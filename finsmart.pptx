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ssistant" pitchFamily="2" charset="-79"/>
      <p:regular r:id="rId12"/>
    </p:embeddedFont>
    <p:embeddedFont>
      <p:font typeface="Assistant Bold" panose="020B0604020202020204" charset="-79"/>
      <p:regular r:id="rId13"/>
    </p:embeddedFont>
    <p:embeddedFont>
      <p:font typeface="Assistant Semi-Bold" panose="020B0604020202020204" charset="-79"/>
      <p:regular r:id="rId14"/>
    </p:embeddedFont>
    <p:embeddedFont>
      <p:font typeface="Canva Sans Bold" panose="020B0604020202020204" charset="0"/>
      <p:regular r:id="rId15"/>
    </p:embeddedFont>
    <p:embeddedFont>
      <p:font typeface="Martel Heavy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854617">
            <a:off x="12184119" y="-1386838"/>
            <a:ext cx="5295061" cy="13691357"/>
            <a:chOff x="0" y="0"/>
            <a:chExt cx="1394584" cy="3605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584" cy="3605954"/>
            </a:xfrm>
            <a:custGeom>
              <a:avLst/>
              <a:gdLst/>
              <a:ahLst/>
              <a:cxnLst/>
              <a:rect l="l" t="t" r="r" b="b"/>
              <a:pathLst>
                <a:path w="1394584" h="3605954">
                  <a:moveTo>
                    <a:pt x="0" y="0"/>
                  </a:moveTo>
                  <a:lnTo>
                    <a:pt x="1394584" y="0"/>
                  </a:lnTo>
                  <a:lnTo>
                    <a:pt x="1394584" y="3605954"/>
                  </a:lnTo>
                  <a:lnTo>
                    <a:pt x="0" y="3605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584" cy="364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10209" lvl="1" indent="-205105" algn="l">
                <a:lnSpc>
                  <a:spcPts val="2659"/>
                </a:lnSpc>
                <a:buFont typeface="Arial"/>
                <a:buChar char="•"/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637160" y="5181600"/>
            <a:ext cx="272980" cy="272980"/>
          </a:xfrm>
          <a:custGeom>
            <a:avLst/>
            <a:gdLst/>
            <a:ahLst/>
            <a:cxnLst/>
            <a:rect l="l" t="t" r="r" b="b"/>
            <a:pathLst>
              <a:path w="272980" h="272980">
                <a:moveTo>
                  <a:pt x="0" y="0"/>
                </a:moveTo>
                <a:lnTo>
                  <a:pt x="272980" y="0"/>
                </a:lnTo>
                <a:lnTo>
                  <a:pt x="272980" y="272980"/>
                </a:lnTo>
                <a:lnTo>
                  <a:pt x="0" y="272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027241" y="1029981"/>
            <a:ext cx="6551686" cy="7689772"/>
          </a:xfrm>
          <a:custGeom>
            <a:avLst/>
            <a:gdLst/>
            <a:ahLst/>
            <a:cxnLst/>
            <a:rect l="l" t="t" r="r" b="b"/>
            <a:pathLst>
              <a:path w="6551686" h="7689772">
                <a:moveTo>
                  <a:pt x="6551686" y="0"/>
                </a:moveTo>
                <a:lnTo>
                  <a:pt x="0" y="0"/>
                </a:lnTo>
                <a:lnTo>
                  <a:pt x="0" y="7689773"/>
                </a:lnTo>
                <a:lnTo>
                  <a:pt x="6551686" y="7689773"/>
                </a:lnTo>
                <a:lnTo>
                  <a:pt x="65516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725266" y="2410899"/>
            <a:ext cx="3511566" cy="3331486"/>
          </a:xfrm>
          <a:custGeom>
            <a:avLst/>
            <a:gdLst/>
            <a:ahLst/>
            <a:cxnLst/>
            <a:rect l="l" t="t" r="r" b="b"/>
            <a:pathLst>
              <a:path w="3511566" h="3331486">
                <a:moveTo>
                  <a:pt x="0" y="0"/>
                </a:moveTo>
                <a:lnTo>
                  <a:pt x="3511566" y="0"/>
                </a:lnTo>
                <a:lnTo>
                  <a:pt x="3511566" y="3331486"/>
                </a:lnTo>
                <a:lnTo>
                  <a:pt x="0" y="33314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027" t="-22904" r="-21290" b="-2710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450163" y="876300"/>
            <a:ext cx="6061772" cy="2916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sz="8328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SAVE SMART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37883" y="5907758"/>
            <a:ext cx="6823487" cy="117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6"/>
              </a:lnSpc>
            </a:pPr>
            <a:r>
              <a:rPr lang="en-US" sz="689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12640" y="7276193"/>
            <a:ext cx="10275360" cy="100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29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AI-Based Expense Tracker with Smart Financial Insights</a:t>
            </a:r>
          </a:p>
          <a:p>
            <a:pPr algn="ctr">
              <a:lnSpc>
                <a:spcPts val="4068"/>
              </a:lnSpc>
            </a:pPr>
            <a:r>
              <a:rPr lang="en-US" sz="29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Intelligent Financial Management Solution.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83209">
            <a:off x="-2003455" y="6597304"/>
            <a:ext cx="21881704" cy="10065584"/>
          </a:xfrm>
          <a:custGeom>
            <a:avLst/>
            <a:gdLst/>
            <a:ahLst/>
            <a:cxnLst/>
            <a:rect l="l" t="t" r="r" b="b"/>
            <a:pathLst>
              <a:path w="21881704" h="10065584">
                <a:moveTo>
                  <a:pt x="0" y="0"/>
                </a:moveTo>
                <a:lnTo>
                  <a:pt x="21881704" y="0"/>
                </a:lnTo>
                <a:lnTo>
                  <a:pt x="21881704" y="10065584"/>
                </a:lnTo>
                <a:lnTo>
                  <a:pt x="0" y="10065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90188" y="1593478"/>
            <a:ext cx="8308561" cy="7100043"/>
          </a:xfrm>
          <a:custGeom>
            <a:avLst/>
            <a:gdLst/>
            <a:ahLst/>
            <a:cxnLst/>
            <a:rect l="l" t="t" r="r" b="b"/>
            <a:pathLst>
              <a:path w="8308561" h="7100043">
                <a:moveTo>
                  <a:pt x="0" y="0"/>
                </a:moveTo>
                <a:lnTo>
                  <a:pt x="8308561" y="0"/>
                </a:lnTo>
                <a:lnTo>
                  <a:pt x="8308561" y="7100044"/>
                </a:lnTo>
                <a:lnTo>
                  <a:pt x="0" y="7100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7057" y="1650624"/>
            <a:ext cx="10262037" cy="122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97"/>
              </a:lnSpc>
            </a:pPr>
            <a:r>
              <a:rPr lang="en-US" sz="7212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Problem Statement: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362002"/>
            <a:ext cx="7908697" cy="4738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3734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Many individuals struggle to track their daily expenses and understand their spending habits. Manual tracking is time-consuming and lacks insights, leading to poor budgeting and financial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267800">
            <a:off x="-3727278" y="7325331"/>
            <a:ext cx="18966276" cy="7392511"/>
            <a:chOff x="0" y="0"/>
            <a:chExt cx="4995233" cy="1946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95233" cy="1946999"/>
            </a:xfrm>
            <a:custGeom>
              <a:avLst/>
              <a:gdLst/>
              <a:ahLst/>
              <a:cxnLst/>
              <a:rect l="l" t="t" r="r" b="b"/>
              <a:pathLst>
                <a:path w="4995233" h="1946999">
                  <a:moveTo>
                    <a:pt x="0" y="0"/>
                  </a:moveTo>
                  <a:lnTo>
                    <a:pt x="4995233" y="0"/>
                  </a:lnTo>
                  <a:lnTo>
                    <a:pt x="4995233" y="1946999"/>
                  </a:lnTo>
                  <a:lnTo>
                    <a:pt x="0" y="1946999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95233" cy="198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3036" y="1251330"/>
            <a:ext cx="5905554" cy="136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37"/>
              </a:lnSpc>
            </a:pPr>
            <a:r>
              <a:rPr lang="en-US" sz="8612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Objective: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6439" y="2961093"/>
            <a:ext cx="9210210" cy="455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4305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To develop an AI-powered expense tracker that automatically records expenses, analyzes spending patterns, and provides personalized financial insights to help users manage money effectively.</a:t>
            </a:r>
          </a:p>
        </p:txBody>
      </p:sp>
      <p:sp>
        <p:nvSpPr>
          <p:cNvPr id="7" name="Freeform 7"/>
          <p:cNvSpPr/>
          <p:nvPr/>
        </p:nvSpPr>
        <p:spPr>
          <a:xfrm>
            <a:off x="9259034" y="2613041"/>
            <a:ext cx="9028966" cy="5333109"/>
          </a:xfrm>
          <a:custGeom>
            <a:avLst/>
            <a:gdLst/>
            <a:ahLst/>
            <a:cxnLst/>
            <a:rect l="l" t="t" r="r" b="b"/>
            <a:pathLst>
              <a:path w="9028966" h="5333109">
                <a:moveTo>
                  <a:pt x="0" y="0"/>
                </a:moveTo>
                <a:lnTo>
                  <a:pt x="9028966" y="0"/>
                </a:lnTo>
                <a:lnTo>
                  <a:pt x="9028966" y="5333110"/>
                </a:lnTo>
                <a:lnTo>
                  <a:pt x="0" y="5333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095953" cy="10287000"/>
            <a:chOff x="0" y="0"/>
            <a:chExt cx="18688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8893" cy="2709333"/>
            </a:xfrm>
            <a:custGeom>
              <a:avLst/>
              <a:gdLst/>
              <a:ahLst/>
              <a:cxnLst/>
              <a:rect l="l" t="t" r="r" b="b"/>
              <a:pathLst>
                <a:path w="1868893" h="2709333">
                  <a:moveTo>
                    <a:pt x="0" y="0"/>
                  </a:moveTo>
                  <a:lnTo>
                    <a:pt x="1868893" y="0"/>
                  </a:lnTo>
                  <a:lnTo>
                    <a:pt x="186889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688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230260" y="1545691"/>
            <a:ext cx="7352393" cy="96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5"/>
              </a:lnSpc>
            </a:pPr>
            <a:r>
              <a:rPr lang="en-US" sz="5725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Proposed Solution: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92151" y="2726039"/>
            <a:ext cx="9434471" cy="504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23"/>
              </a:lnSpc>
            </a:pPr>
            <a:r>
              <a:rPr lang="en-US" sz="4087" b="1">
                <a:solidFill>
                  <a:srgbClr val="243E4D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An intelligent expense tracking application that uses AI to categorize expenses, monitor income, predict future spending, and provide smart alerts and recommendations for better financial decisions.</a:t>
            </a:r>
          </a:p>
          <a:p>
            <a:pPr algn="just">
              <a:lnSpc>
                <a:spcPts val="5723"/>
              </a:lnSpc>
            </a:pPr>
            <a:endParaRPr lang="en-US" sz="4087" b="1">
              <a:solidFill>
                <a:srgbClr val="243E4D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27145" y="621766"/>
            <a:ext cx="7350242" cy="8636534"/>
          </a:xfrm>
          <a:custGeom>
            <a:avLst/>
            <a:gdLst/>
            <a:ahLst/>
            <a:cxnLst/>
            <a:rect l="l" t="t" r="r" b="b"/>
            <a:pathLst>
              <a:path w="7350242" h="8636534">
                <a:moveTo>
                  <a:pt x="0" y="0"/>
                </a:moveTo>
                <a:lnTo>
                  <a:pt x="7350242" y="0"/>
                </a:lnTo>
                <a:lnTo>
                  <a:pt x="7350242" y="8636534"/>
                </a:lnTo>
                <a:lnTo>
                  <a:pt x="0" y="8636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38500">
            <a:off x="11466264" y="-702543"/>
            <a:ext cx="8568617" cy="13356802"/>
            <a:chOff x="0" y="0"/>
            <a:chExt cx="2256755" cy="35178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56755" cy="3517841"/>
            </a:xfrm>
            <a:custGeom>
              <a:avLst/>
              <a:gdLst/>
              <a:ahLst/>
              <a:cxnLst/>
              <a:rect l="l" t="t" r="r" b="b"/>
              <a:pathLst>
                <a:path w="2256755" h="3517841">
                  <a:moveTo>
                    <a:pt x="0" y="0"/>
                  </a:moveTo>
                  <a:lnTo>
                    <a:pt x="2256755" y="0"/>
                  </a:lnTo>
                  <a:lnTo>
                    <a:pt x="2256755" y="3517841"/>
                  </a:lnTo>
                  <a:lnTo>
                    <a:pt x="0" y="3517841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56755" cy="3555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73266" y="3564560"/>
            <a:ext cx="4794266" cy="4822597"/>
            <a:chOff x="0" y="0"/>
            <a:chExt cx="909545" cy="9149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9545" cy="914920"/>
            </a:xfrm>
            <a:custGeom>
              <a:avLst/>
              <a:gdLst/>
              <a:ahLst/>
              <a:cxnLst/>
              <a:rect l="l" t="t" r="r" b="b"/>
              <a:pathLst>
                <a:path w="909545" h="914920">
                  <a:moveTo>
                    <a:pt x="454772" y="0"/>
                  </a:moveTo>
                  <a:cubicBezTo>
                    <a:pt x="203609" y="0"/>
                    <a:pt x="0" y="204812"/>
                    <a:pt x="0" y="457460"/>
                  </a:cubicBezTo>
                  <a:cubicBezTo>
                    <a:pt x="0" y="710108"/>
                    <a:pt x="203609" y="914920"/>
                    <a:pt x="454772" y="914920"/>
                  </a:cubicBezTo>
                  <a:cubicBezTo>
                    <a:pt x="705936" y="914920"/>
                    <a:pt x="909545" y="710108"/>
                    <a:pt x="909545" y="457460"/>
                  </a:cubicBezTo>
                  <a:cubicBezTo>
                    <a:pt x="909545" y="204812"/>
                    <a:pt x="705936" y="0"/>
                    <a:pt x="45477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A66735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270" y="38149"/>
              <a:ext cx="739005" cy="790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770005" y="3784004"/>
            <a:ext cx="600789" cy="135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7"/>
              </a:lnSpc>
            </a:pPr>
            <a:r>
              <a:rPr lang="en-US" sz="7976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B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137269" y="1835974"/>
            <a:ext cx="4563937" cy="4765936"/>
            <a:chOff x="0" y="0"/>
            <a:chExt cx="865848" cy="9041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65848" cy="904170"/>
            </a:xfrm>
            <a:custGeom>
              <a:avLst/>
              <a:gdLst/>
              <a:ahLst/>
              <a:cxnLst/>
              <a:rect l="l" t="t" r="r" b="b"/>
              <a:pathLst>
                <a:path w="865848" h="904170">
                  <a:moveTo>
                    <a:pt x="432924" y="0"/>
                  </a:moveTo>
                  <a:cubicBezTo>
                    <a:pt x="193827" y="0"/>
                    <a:pt x="0" y="202405"/>
                    <a:pt x="0" y="452085"/>
                  </a:cubicBezTo>
                  <a:cubicBezTo>
                    <a:pt x="0" y="701765"/>
                    <a:pt x="193827" y="904170"/>
                    <a:pt x="432924" y="904170"/>
                  </a:cubicBezTo>
                  <a:cubicBezTo>
                    <a:pt x="672021" y="904170"/>
                    <a:pt x="865848" y="701765"/>
                    <a:pt x="865848" y="452085"/>
                  </a:cubicBezTo>
                  <a:cubicBezTo>
                    <a:pt x="865848" y="202405"/>
                    <a:pt x="672021" y="0"/>
                    <a:pt x="432924" y="0"/>
                  </a:cubicBez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81173" y="46666"/>
              <a:ext cx="703501" cy="772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11280" y="3869910"/>
            <a:ext cx="4539292" cy="4840732"/>
            <a:chOff x="0" y="0"/>
            <a:chExt cx="861172" cy="918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1172" cy="918360"/>
            </a:xfrm>
            <a:custGeom>
              <a:avLst/>
              <a:gdLst/>
              <a:ahLst/>
              <a:cxnLst/>
              <a:rect l="l" t="t" r="r" b="b"/>
              <a:pathLst>
                <a:path w="861172" h="918360">
                  <a:moveTo>
                    <a:pt x="430586" y="0"/>
                  </a:moveTo>
                  <a:cubicBezTo>
                    <a:pt x="192780" y="0"/>
                    <a:pt x="0" y="205582"/>
                    <a:pt x="0" y="459180"/>
                  </a:cubicBezTo>
                  <a:cubicBezTo>
                    <a:pt x="0" y="712778"/>
                    <a:pt x="192780" y="918360"/>
                    <a:pt x="430586" y="918360"/>
                  </a:cubicBezTo>
                  <a:cubicBezTo>
                    <a:pt x="668392" y="918360"/>
                    <a:pt x="861172" y="712778"/>
                    <a:pt x="861172" y="459180"/>
                  </a:cubicBezTo>
                  <a:cubicBezTo>
                    <a:pt x="861172" y="205582"/>
                    <a:pt x="668392" y="0"/>
                    <a:pt x="430586" y="0"/>
                  </a:cubicBezTo>
                  <a:close/>
                </a:path>
              </a:pathLst>
            </a:custGeom>
            <a:solidFill>
              <a:srgbClr val="DCB07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80735" y="47996"/>
              <a:ext cx="699703" cy="784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39619" y="1683574"/>
            <a:ext cx="559237" cy="135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7"/>
              </a:lnSpc>
            </a:pPr>
            <a:r>
              <a:rPr lang="en-US" sz="7976" b="1">
                <a:solidFill>
                  <a:srgbClr val="FFFFFF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90175" y="3717510"/>
            <a:ext cx="581501" cy="135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67"/>
              </a:lnSpc>
            </a:pPr>
            <a:r>
              <a:rPr lang="en-US" sz="7976" b="1">
                <a:solidFill>
                  <a:srgbClr val="FFFFFF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8717" y="956917"/>
            <a:ext cx="6997833" cy="119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59"/>
              </a:lnSpc>
            </a:pPr>
            <a:r>
              <a:rPr lang="en-US" sz="7527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Key Features: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61382" y="3153456"/>
            <a:ext cx="3515711" cy="270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Automatic expense categorization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  <a:endParaRPr lang="en-US" sz="3100" b="1">
              <a:solidFill>
                <a:srgbClr val="000000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 b="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AI-based spending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73266" y="4984086"/>
            <a:ext cx="4794266" cy="255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Personalized budgeting suggestions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900" b="1">
              <a:solidFill>
                <a:srgbClr val="000000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Smart alerts for overspending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51493" y="5086350"/>
            <a:ext cx="3858867" cy="273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spcBef>
                <a:spcPct val="0"/>
              </a:spcBef>
            </a:pPr>
            <a:r>
              <a:rPr lang="en-US" sz="3148" b="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Future expense prediction</a:t>
            </a:r>
          </a:p>
          <a:p>
            <a:pPr algn="ctr">
              <a:lnSpc>
                <a:spcPts val="4407"/>
              </a:lnSpc>
              <a:spcBef>
                <a:spcPct val="0"/>
              </a:spcBef>
            </a:pPr>
            <a:endParaRPr lang="en-US" sz="3148" b="1">
              <a:solidFill>
                <a:srgbClr val="000000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  <a:p>
            <a:pPr algn="ctr">
              <a:lnSpc>
                <a:spcPts val="4407"/>
              </a:lnSpc>
              <a:spcBef>
                <a:spcPct val="0"/>
              </a:spcBef>
            </a:pPr>
            <a:r>
              <a:rPr lang="en-US" sz="3148" b="1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Goal-based savings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89517">
            <a:off x="-3355734" y="7933313"/>
            <a:ext cx="18966276" cy="7392511"/>
            <a:chOff x="0" y="0"/>
            <a:chExt cx="4995233" cy="19469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95233" cy="1946999"/>
            </a:xfrm>
            <a:custGeom>
              <a:avLst/>
              <a:gdLst/>
              <a:ahLst/>
              <a:cxnLst/>
              <a:rect l="l" t="t" r="r" b="b"/>
              <a:pathLst>
                <a:path w="4995233" h="1946999">
                  <a:moveTo>
                    <a:pt x="0" y="0"/>
                  </a:moveTo>
                  <a:lnTo>
                    <a:pt x="4995233" y="0"/>
                  </a:lnTo>
                  <a:lnTo>
                    <a:pt x="4995233" y="1946999"/>
                  </a:lnTo>
                  <a:lnTo>
                    <a:pt x="0" y="1946999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95233" cy="198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989517">
            <a:off x="-4673027" y="8845285"/>
            <a:ext cx="18966276" cy="7392511"/>
            <a:chOff x="0" y="0"/>
            <a:chExt cx="4995233" cy="19469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95233" cy="1946999"/>
            </a:xfrm>
            <a:custGeom>
              <a:avLst/>
              <a:gdLst/>
              <a:ahLst/>
              <a:cxnLst/>
              <a:rect l="l" t="t" r="r" b="b"/>
              <a:pathLst>
                <a:path w="4995233" h="1946999">
                  <a:moveTo>
                    <a:pt x="0" y="0"/>
                  </a:moveTo>
                  <a:lnTo>
                    <a:pt x="4995233" y="0"/>
                  </a:lnTo>
                  <a:lnTo>
                    <a:pt x="4995233" y="1946999"/>
                  </a:lnTo>
                  <a:lnTo>
                    <a:pt x="0" y="1946999"/>
                  </a:lnTo>
                  <a:close/>
                </a:path>
              </a:pathLst>
            </a:custGeom>
            <a:solidFill>
              <a:srgbClr val="243E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995233" cy="1985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805906">
            <a:off x="1159" y="2025722"/>
            <a:ext cx="6044986" cy="7664007"/>
          </a:xfrm>
          <a:custGeom>
            <a:avLst/>
            <a:gdLst/>
            <a:ahLst/>
            <a:cxnLst/>
            <a:rect l="l" t="t" r="r" b="b"/>
            <a:pathLst>
              <a:path w="6044986" h="7664007">
                <a:moveTo>
                  <a:pt x="0" y="0"/>
                </a:moveTo>
                <a:lnTo>
                  <a:pt x="6044985" y="0"/>
                </a:lnTo>
                <a:lnTo>
                  <a:pt x="6044985" y="7664007"/>
                </a:lnTo>
                <a:lnTo>
                  <a:pt x="0" y="7664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35052" y="452141"/>
            <a:ext cx="11678079" cy="139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7"/>
              </a:lnSpc>
            </a:pPr>
            <a:r>
              <a:rPr lang="en-US" sz="8212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Innovative Features: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3596" y="1987095"/>
            <a:ext cx="8967190" cy="6905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8810" lvl="1" indent="-429405" algn="l">
              <a:lnSpc>
                <a:spcPts val="6125"/>
              </a:lnSpc>
              <a:buFont typeface="Arial"/>
              <a:buChar char="•"/>
            </a:pPr>
            <a:r>
              <a:rPr lang="en-US" sz="3977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AI Financial Health Score</a:t>
            </a:r>
          </a:p>
          <a:p>
            <a:pPr algn="l">
              <a:lnSpc>
                <a:spcPts val="6125"/>
              </a:lnSpc>
            </a:pPr>
            <a:endParaRPr lang="en-US" sz="3977" b="1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marL="858810" lvl="1" indent="-429405" algn="l">
              <a:lnSpc>
                <a:spcPts val="6125"/>
              </a:lnSpc>
              <a:buFont typeface="Arial"/>
              <a:buChar char="•"/>
            </a:pPr>
            <a:r>
              <a:rPr lang="en-US" sz="3977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Emotion-aware spending insights</a:t>
            </a:r>
          </a:p>
          <a:p>
            <a:pPr algn="l">
              <a:lnSpc>
                <a:spcPts val="6125"/>
              </a:lnSpc>
            </a:pPr>
            <a:endParaRPr lang="en-US" sz="3977" b="1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marL="858810" lvl="1" indent="-429405" algn="l">
              <a:lnSpc>
                <a:spcPts val="6125"/>
              </a:lnSpc>
              <a:buFont typeface="Arial"/>
              <a:buChar char="•"/>
            </a:pPr>
            <a:r>
              <a:rPr lang="en-US" sz="3977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Scenario-based financial simulations</a:t>
            </a:r>
          </a:p>
          <a:p>
            <a:pPr algn="l">
              <a:lnSpc>
                <a:spcPts val="6125"/>
              </a:lnSpc>
            </a:pPr>
            <a:endParaRPr lang="en-US" sz="3977" b="1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marL="858810" lvl="1" indent="-429405" algn="l">
              <a:lnSpc>
                <a:spcPts val="6125"/>
              </a:lnSpc>
              <a:buFont typeface="Arial"/>
              <a:buChar char="•"/>
            </a:pPr>
            <a:r>
              <a:rPr lang="en-US" sz="3977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AI Financial Coach (Chat-based)</a:t>
            </a:r>
          </a:p>
          <a:p>
            <a:pPr algn="l">
              <a:lnSpc>
                <a:spcPts val="6125"/>
              </a:lnSpc>
            </a:pPr>
            <a:endParaRPr lang="en-US" sz="3977" b="1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marL="858810" lvl="1" indent="-429405" algn="l">
              <a:lnSpc>
                <a:spcPts val="6125"/>
              </a:lnSpc>
              <a:buFont typeface="Arial"/>
              <a:buChar char="•"/>
            </a:pPr>
            <a:r>
              <a:rPr lang="en-US" sz="3977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Subscription usage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74310"/>
            <a:ext cx="7713226" cy="6738380"/>
            <a:chOff x="0" y="0"/>
            <a:chExt cx="2137363" cy="186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1867230"/>
            </a:xfrm>
            <a:custGeom>
              <a:avLst/>
              <a:gdLst/>
              <a:ahLst/>
              <a:cxnLst/>
              <a:rect l="l" t="t" r="r" b="b"/>
              <a:pathLst>
                <a:path w="2137363" h="1867230">
                  <a:moveTo>
                    <a:pt x="0" y="0"/>
                  </a:moveTo>
                  <a:lnTo>
                    <a:pt x="2137363" y="0"/>
                  </a:lnTo>
                  <a:lnTo>
                    <a:pt x="2137363" y="1867230"/>
                  </a:lnTo>
                  <a:lnTo>
                    <a:pt x="0" y="1867230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37363" cy="190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28" y="1346310"/>
            <a:ext cx="8282899" cy="7641591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865796" y="321854"/>
            <a:ext cx="8729781" cy="1088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5"/>
              </a:lnSpc>
            </a:pPr>
            <a:r>
              <a:rPr lang="en-US" sz="6360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Technologies Used: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00060" y="2143428"/>
            <a:ext cx="9377850" cy="456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3090" lvl="1" indent="-481545" algn="l">
              <a:lnSpc>
                <a:spcPts val="6245"/>
              </a:lnSpc>
              <a:buFont typeface="Arial"/>
              <a:buChar char="•"/>
            </a:pPr>
            <a:r>
              <a:rPr lang="en-US" sz="4460" b="1" dirty="0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Frontend:</a:t>
            </a:r>
            <a:r>
              <a:rPr lang="en-US" sz="4460" b="1" dirty="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 Web / Mobile Application</a:t>
            </a:r>
          </a:p>
          <a:p>
            <a:pPr marL="481545" lvl="1" algn="l">
              <a:lnSpc>
                <a:spcPts val="6245"/>
              </a:lnSpc>
            </a:pPr>
            <a:endParaRPr lang="en-US" sz="4460" b="1" dirty="0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marL="963090" lvl="1" indent="-481545" algn="l">
              <a:lnSpc>
                <a:spcPts val="6245"/>
              </a:lnSpc>
              <a:buFont typeface="Arial"/>
              <a:buChar char="•"/>
            </a:pPr>
            <a:r>
              <a:rPr lang="en-US" sz="4460" b="1" dirty="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AI Tools</a:t>
            </a:r>
            <a:r>
              <a:rPr lang="en-US" sz="4460" dirty="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: </a:t>
            </a:r>
            <a:r>
              <a:rPr lang="en-US" sz="4460" dirty="0" err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Replit</a:t>
            </a:r>
            <a:r>
              <a:rPr lang="en-US" sz="4460" dirty="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 ,Gemini ,</a:t>
            </a:r>
            <a:r>
              <a:rPr lang="en-US" sz="4460" dirty="0" err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Deepseek</a:t>
            </a:r>
            <a:endParaRPr lang="en-US" sz="4460" dirty="0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algn="l">
              <a:lnSpc>
                <a:spcPts val="4988"/>
              </a:lnSpc>
            </a:pPr>
            <a:endParaRPr lang="en-US" sz="4460" b="1" dirty="0">
              <a:solidFill>
                <a:srgbClr val="000000"/>
              </a:solidFill>
              <a:latin typeface="Assistant Semi-Bold"/>
              <a:ea typeface="Assistant Semi-Bold"/>
              <a:cs typeface="Assistant Semi-Bold"/>
              <a:sym typeface="Assistant Semi-Bold"/>
            </a:endParaRPr>
          </a:p>
          <a:p>
            <a:pPr marL="963090" lvl="1" indent="-481545" algn="l">
              <a:lnSpc>
                <a:spcPts val="6245"/>
              </a:lnSpc>
              <a:buFont typeface="Arial"/>
              <a:buChar char="•"/>
            </a:pPr>
            <a:r>
              <a:rPr lang="en-US" sz="4460" b="1" dirty="0">
                <a:solidFill>
                  <a:srgbClr val="000000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Security:</a:t>
            </a:r>
            <a:r>
              <a:rPr lang="en-US" sz="4460" b="1" dirty="0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 Encrypted data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2615770"/>
            <a:ext cx="8672915" cy="5850275"/>
          </a:xfrm>
          <a:custGeom>
            <a:avLst/>
            <a:gdLst/>
            <a:ahLst/>
            <a:cxnLst/>
            <a:rect l="l" t="t" r="r" b="b"/>
            <a:pathLst>
              <a:path w="8672915" h="5850275">
                <a:moveTo>
                  <a:pt x="0" y="0"/>
                </a:moveTo>
                <a:lnTo>
                  <a:pt x="8672915" y="0"/>
                </a:lnTo>
                <a:lnTo>
                  <a:pt x="8672915" y="5850275"/>
                </a:lnTo>
                <a:lnTo>
                  <a:pt x="0" y="5850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995532">
            <a:off x="7332280" y="8781844"/>
            <a:ext cx="12504578" cy="4545584"/>
            <a:chOff x="0" y="0"/>
            <a:chExt cx="3293387" cy="11971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93387" cy="1197191"/>
            </a:xfrm>
            <a:custGeom>
              <a:avLst/>
              <a:gdLst/>
              <a:ahLst/>
              <a:cxnLst/>
              <a:rect l="l" t="t" r="r" b="b"/>
              <a:pathLst>
                <a:path w="3293387" h="1197191">
                  <a:moveTo>
                    <a:pt x="0" y="0"/>
                  </a:moveTo>
                  <a:lnTo>
                    <a:pt x="3293387" y="0"/>
                  </a:lnTo>
                  <a:lnTo>
                    <a:pt x="3293387" y="1197191"/>
                  </a:lnTo>
                  <a:lnTo>
                    <a:pt x="0" y="1197191"/>
                  </a:lnTo>
                  <a:close/>
                </a:path>
              </a:pathLst>
            </a:custGeom>
            <a:solidFill>
              <a:srgbClr val="F6F4E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293387" cy="1235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4458" y="876300"/>
            <a:ext cx="5244836" cy="12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2"/>
              </a:lnSpc>
            </a:pPr>
            <a:r>
              <a:rPr lang="en-US" sz="7458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Use Cases: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360062"/>
            <a:ext cx="7737554" cy="722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286" lvl="1" indent="-442643" algn="l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Students managing monthly expenses.</a:t>
            </a:r>
          </a:p>
          <a:p>
            <a:pPr algn="l">
              <a:lnSpc>
                <a:spcPts val="5740"/>
              </a:lnSpc>
            </a:pPr>
            <a:endParaRPr lang="en-US" sz="41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885286" lvl="1" indent="-442643" algn="l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Working professionals tracking income &amp; savings.</a:t>
            </a:r>
          </a:p>
          <a:p>
            <a:pPr algn="l">
              <a:lnSpc>
                <a:spcPts val="5740"/>
              </a:lnSpc>
            </a:pPr>
            <a:endParaRPr lang="en-US" sz="41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885286" lvl="1" indent="-442643" algn="l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Families planning budgets.</a:t>
            </a:r>
          </a:p>
          <a:p>
            <a:pPr algn="l">
              <a:lnSpc>
                <a:spcPts val="5740"/>
              </a:lnSpc>
            </a:pPr>
            <a:endParaRPr lang="en-US" sz="4100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885286" lvl="1" indent="-442643" algn="l">
              <a:lnSpc>
                <a:spcPts val="5740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Individuals aiming for financial goals.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82917" y="3054899"/>
            <a:ext cx="7176383" cy="5153948"/>
          </a:xfrm>
          <a:custGeom>
            <a:avLst/>
            <a:gdLst/>
            <a:ahLst/>
            <a:cxnLst/>
            <a:rect l="l" t="t" r="r" b="b"/>
            <a:pathLst>
              <a:path w="7176383" h="5153948">
                <a:moveTo>
                  <a:pt x="0" y="0"/>
                </a:moveTo>
                <a:lnTo>
                  <a:pt x="7176383" y="0"/>
                </a:lnTo>
                <a:lnTo>
                  <a:pt x="7176383" y="5153948"/>
                </a:lnTo>
                <a:lnTo>
                  <a:pt x="0" y="5153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76300"/>
            <a:ext cx="6254594" cy="12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42"/>
              </a:lnSpc>
            </a:pPr>
            <a:r>
              <a:rPr lang="en-US" sz="7458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Advantages: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3296" y="2768613"/>
            <a:ext cx="8994157" cy="5379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0089" lvl="1" indent="-415045" algn="l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Easy and automated expense tracking</a:t>
            </a:r>
          </a:p>
          <a:p>
            <a:pPr algn="l">
              <a:lnSpc>
                <a:spcPts val="5382"/>
              </a:lnSpc>
            </a:pPr>
            <a:endParaRPr lang="en-US" sz="3844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830089" lvl="1" indent="-415045" algn="l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Better control over finances</a:t>
            </a:r>
          </a:p>
          <a:p>
            <a:pPr algn="l">
              <a:lnSpc>
                <a:spcPts val="5382"/>
              </a:lnSpc>
            </a:pPr>
            <a:endParaRPr lang="en-US" sz="3844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830089" lvl="1" indent="-415045" algn="l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Smart decision-making using AI insights</a:t>
            </a:r>
          </a:p>
          <a:p>
            <a:pPr algn="l">
              <a:lnSpc>
                <a:spcPts val="5382"/>
              </a:lnSpc>
            </a:pPr>
            <a:endParaRPr lang="en-US" sz="3844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830089" lvl="1" indent="-415045" algn="l">
              <a:lnSpc>
                <a:spcPts val="5382"/>
              </a:lnSpc>
              <a:buFont typeface="Arial"/>
              <a:buChar char="•"/>
            </a:pPr>
            <a:r>
              <a:rPr lang="en-US" sz="3844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Improved savings and financial discipline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690638">
            <a:off x="654494" y="-1142016"/>
            <a:ext cx="4419788" cy="12571033"/>
            <a:chOff x="0" y="0"/>
            <a:chExt cx="1164059" cy="3310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4059" cy="3310889"/>
            </a:xfrm>
            <a:custGeom>
              <a:avLst/>
              <a:gdLst/>
              <a:ahLst/>
              <a:cxnLst/>
              <a:rect l="l" t="t" r="r" b="b"/>
              <a:pathLst>
                <a:path w="1164059" h="3310889">
                  <a:moveTo>
                    <a:pt x="0" y="0"/>
                  </a:moveTo>
                  <a:lnTo>
                    <a:pt x="1164059" y="0"/>
                  </a:lnTo>
                  <a:lnTo>
                    <a:pt x="1164059" y="3310889"/>
                  </a:lnTo>
                  <a:lnTo>
                    <a:pt x="0" y="33108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64059" cy="3348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7637160" y="4200009"/>
            <a:ext cx="272980" cy="272980"/>
          </a:xfrm>
          <a:custGeom>
            <a:avLst/>
            <a:gdLst/>
            <a:ahLst/>
            <a:cxnLst/>
            <a:rect l="l" t="t" r="r" b="b"/>
            <a:pathLst>
              <a:path w="272980" h="272980">
                <a:moveTo>
                  <a:pt x="0" y="0"/>
                </a:moveTo>
                <a:lnTo>
                  <a:pt x="272980" y="0"/>
                </a:lnTo>
                <a:lnTo>
                  <a:pt x="272980" y="272979"/>
                </a:lnTo>
                <a:lnTo>
                  <a:pt x="0" y="2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2475" y="3238040"/>
            <a:ext cx="7593140" cy="5315198"/>
          </a:xfrm>
          <a:custGeom>
            <a:avLst/>
            <a:gdLst/>
            <a:ahLst/>
            <a:cxnLst/>
            <a:rect l="l" t="t" r="r" b="b"/>
            <a:pathLst>
              <a:path w="7593140" h="5315198">
                <a:moveTo>
                  <a:pt x="0" y="0"/>
                </a:moveTo>
                <a:lnTo>
                  <a:pt x="7593140" y="0"/>
                </a:lnTo>
                <a:lnTo>
                  <a:pt x="7593140" y="5315199"/>
                </a:lnTo>
                <a:lnTo>
                  <a:pt x="0" y="5315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385615" y="1215878"/>
            <a:ext cx="8398442" cy="1798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670"/>
              </a:lnSpc>
            </a:pPr>
            <a:r>
              <a:rPr lang="en-US" sz="10478" b="1">
                <a:solidFill>
                  <a:srgbClr val="000000"/>
                </a:solidFill>
                <a:latin typeface="Martel Heavy"/>
                <a:ea typeface="Martel Heavy"/>
                <a:cs typeface="Martel Heavy"/>
                <a:sym typeface="Martel Heavy"/>
              </a:rPr>
              <a:t>Conclusion: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08408" y="3175812"/>
            <a:ext cx="8493160" cy="608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250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T</a:t>
            </a:r>
          </a:p>
          <a:p>
            <a:pPr marL="868258" lvl="1" indent="-434129" algn="l">
              <a:lnSpc>
                <a:spcPts val="5630"/>
              </a:lnSpc>
              <a:buFont typeface="Arial"/>
              <a:buChar char="•"/>
            </a:pPr>
            <a:r>
              <a:rPr lang="en-US" sz="4021" b="1">
                <a:solidFill>
                  <a:srgbClr val="000000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The AI-Based Expense Tracker simplifies money management by combining automation and intelligence. It empowers users with actionable insights, helping them build better financial habits and achieve long-term financial stability.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792494" y="8524664"/>
            <a:ext cx="7682202" cy="0"/>
          </a:xfrm>
          <a:prstGeom prst="line">
            <a:avLst/>
          </a:prstGeom>
          <a:ln w="38100" cap="flat">
            <a:solidFill>
              <a:srgbClr val="243E4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989449" y="9342499"/>
            <a:ext cx="3151401" cy="76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US" sz="44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</Words>
  <Application>Microsoft Office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Martel Heavy</vt:lpstr>
      <vt:lpstr>Canva Sans Bold</vt:lpstr>
      <vt:lpstr>Assistant</vt:lpstr>
      <vt:lpstr>Assistant Semi-Bold</vt:lpstr>
      <vt:lpstr>Assistant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Snehanjali</dc:creator>
  <cp:lastModifiedBy>Nekkala Snehanjali</cp:lastModifiedBy>
  <cp:revision>2</cp:revision>
  <dcterms:created xsi:type="dcterms:W3CDTF">2006-08-16T00:00:00Z</dcterms:created>
  <dcterms:modified xsi:type="dcterms:W3CDTF">2026-01-06T00:16:30Z</dcterms:modified>
  <dc:identifier>DAG9kIdJucQ</dc:identifier>
</cp:coreProperties>
</file>